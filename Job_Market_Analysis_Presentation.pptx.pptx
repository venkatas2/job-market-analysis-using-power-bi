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Default Extension="jpg" ContentType="image/jpg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9753600" cy="7315200"/>
  <p:notesSz cx="9753600" cy="73152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54082" y="446271"/>
            <a:ext cx="7445434" cy="7410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63040" y="4096512"/>
            <a:ext cx="6827520" cy="1828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87680" y="1682496"/>
            <a:ext cx="4242816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023104" y="1682496"/>
            <a:ext cx="4242816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58456" y="446271"/>
            <a:ext cx="6836687" cy="7410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7680" y="1682496"/>
            <a:ext cx="8778240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316224" y="6803136"/>
            <a:ext cx="3121152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80586" y="2182964"/>
            <a:ext cx="7192645" cy="2148840"/>
          </a:xfrm>
          <a:prstGeom prst="rect"/>
        </p:spPr>
        <p:txBody>
          <a:bodyPr wrap="square" lIns="0" tIns="32384" rIns="0" bIns="0" rtlCol="0" vert="horz">
            <a:spAutoFit/>
          </a:bodyPr>
          <a:lstStyle/>
          <a:p>
            <a:pPr marL="882015" marR="5080" indent="-869950">
              <a:lnSpc>
                <a:spcPts val="8330"/>
              </a:lnSpc>
              <a:spcBef>
                <a:spcPts val="254"/>
              </a:spcBef>
            </a:pPr>
            <a:r>
              <a:rPr dirty="0" sz="7000"/>
              <a:t>Job</a:t>
            </a:r>
            <a:r>
              <a:rPr dirty="0" sz="7000" spc="-145"/>
              <a:t> </a:t>
            </a:r>
            <a:r>
              <a:rPr dirty="0" sz="7000"/>
              <a:t>Market</a:t>
            </a:r>
            <a:r>
              <a:rPr dirty="0" sz="7000" spc="-145"/>
              <a:t> </a:t>
            </a:r>
            <a:r>
              <a:rPr dirty="0" sz="7000" spc="-10"/>
              <a:t>Analysis </a:t>
            </a:r>
            <a:r>
              <a:rPr dirty="0" sz="7000"/>
              <a:t>Using</a:t>
            </a:r>
            <a:r>
              <a:rPr dirty="0" sz="7000" spc="-150"/>
              <a:t> </a:t>
            </a:r>
            <a:r>
              <a:rPr dirty="0" sz="7000"/>
              <a:t>Power</a:t>
            </a:r>
            <a:r>
              <a:rPr dirty="0" sz="7000" spc="-145"/>
              <a:t> </a:t>
            </a:r>
            <a:r>
              <a:rPr dirty="0" sz="7000" spc="-25"/>
              <a:t>BI</a:t>
            </a:r>
            <a:endParaRPr sz="7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646555">
              <a:lnSpc>
                <a:spcPct val="100000"/>
              </a:lnSpc>
              <a:spcBef>
                <a:spcPts val="90"/>
              </a:spcBef>
            </a:pPr>
            <a:r>
              <a:rPr dirty="0"/>
              <a:t>Project</a:t>
            </a:r>
            <a:r>
              <a:rPr dirty="0" spc="-175"/>
              <a:t> </a:t>
            </a:r>
            <a:r>
              <a:rPr dirty="0" spc="-10"/>
              <a:t>Overview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1044" y="1943100"/>
            <a:ext cx="104775" cy="10477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05611" y="1658842"/>
            <a:ext cx="7640955" cy="1574800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12700" marR="5080">
              <a:lnSpc>
                <a:spcPts val="4050"/>
              </a:lnSpc>
              <a:spcBef>
                <a:spcPts val="245"/>
              </a:spcBef>
            </a:pPr>
            <a:r>
              <a:rPr dirty="0" sz="3400">
                <a:latin typeface="Calibri"/>
                <a:cs typeface="Calibri"/>
              </a:rPr>
              <a:t>Analysis</a:t>
            </a:r>
            <a:r>
              <a:rPr dirty="0" sz="3400" spc="-20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of</a:t>
            </a:r>
            <a:r>
              <a:rPr dirty="0" sz="3400" spc="-20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job</a:t>
            </a:r>
            <a:r>
              <a:rPr dirty="0" sz="3400" spc="-15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market</a:t>
            </a:r>
            <a:r>
              <a:rPr dirty="0" sz="3400" spc="-20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trends,</a:t>
            </a:r>
            <a:r>
              <a:rPr dirty="0" sz="3400" spc="-15">
                <a:latin typeface="Calibri"/>
                <a:cs typeface="Calibri"/>
              </a:rPr>
              <a:t> </a:t>
            </a:r>
            <a:r>
              <a:rPr dirty="0" sz="3400" spc="-10">
                <a:latin typeface="Calibri"/>
                <a:cs typeface="Calibri"/>
              </a:rPr>
              <a:t>salaries, </a:t>
            </a:r>
            <a:r>
              <a:rPr dirty="0" sz="3400">
                <a:latin typeface="Calibri"/>
                <a:cs typeface="Calibri"/>
              </a:rPr>
              <a:t>industries,</a:t>
            </a:r>
            <a:r>
              <a:rPr dirty="0" sz="3400" spc="-25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companies,</a:t>
            </a:r>
            <a:r>
              <a:rPr dirty="0" sz="3400" spc="-20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skills,</a:t>
            </a:r>
            <a:r>
              <a:rPr dirty="0" sz="3400" spc="-25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and</a:t>
            </a:r>
            <a:r>
              <a:rPr dirty="0" sz="3400" spc="-20">
                <a:latin typeface="Calibri"/>
                <a:cs typeface="Calibri"/>
              </a:rPr>
              <a:t> </a:t>
            </a:r>
            <a:r>
              <a:rPr dirty="0" sz="3400" spc="-10">
                <a:latin typeface="Calibri"/>
                <a:cs typeface="Calibri"/>
              </a:rPr>
              <a:t>education </a:t>
            </a:r>
            <a:r>
              <a:rPr dirty="0" sz="3400">
                <a:latin typeface="Calibri"/>
                <a:cs typeface="Calibri"/>
              </a:rPr>
              <a:t>requirements</a:t>
            </a:r>
            <a:r>
              <a:rPr dirty="0" sz="3400" spc="-30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using</a:t>
            </a:r>
            <a:r>
              <a:rPr dirty="0" sz="3400" spc="-25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Power</a:t>
            </a:r>
            <a:r>
              <a:rPr dirty="0" sz="3400" spc="-25">
                <a:latin typeface="Calibri"/>
                <a:cs typeface="Calibri"/>
              </a:rPr>
              <a:t> BI.</a:t>
            </a:r>
            <a:endParaRPr sz="3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2455545">
              <a:lnSpc>
                <a:spcPct val="100000"/>
              </a:lnSpc>
              <a:spcBef>
                <a:spcPts val="90"/>
              </a:spcBef>
            </a:pPr>
            <a:r>
              <a:rPr dirty="0" spc="-10"/>
              <a:t>Objectives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1044" y="1943100"/>
            <a:ext cx="104775" cy="10477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05611" y="1658842"/>
            <a:ext cx="7771130" cy="1574800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algn="just" marL="12700" marR="5080">
              <a:lnSpc>
                <a:spcPts val="4050"/>
              </a:lnSpc>
              <a:spcBef>
                <a:spcPts val="245"/>
              </a:spcBef>
            </a:pPr>
            <a:r>
              <a:rPr dirty="0" sz="3400">
                <a:latin typeface="Calibri"/>
                <a:cs typeface="Calibri"/>
              </a:rPr>
              <a:t>Identify</a:t>
            </a:r>
            <a:r>
              <a:rPr dirty="0" sz="3400" spc="-25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top</a:t>
            </a:r>
            <a:r>
              <a:rPr dirty="0" sz="3400" spc="-20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states,</a:t>
            </a:r>
            <a:r>
              <a:rPr dirty="0" sz="3400" spc="-20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analyze</a:t>
            </a:r>
            <a:r>
              <a:rPr dirty="0" sz="3400" spc="-25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salaries,</a:t>
            </a:r>
            <a:r>
              <a:rPr dirty="0" sz="3400" spc="-20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find</a:t>
            </a:r>
            <a:r>
              <a:rPr dirty="0" sz="3400" spc="-20">
                <a:latin typeface="Calibri"/>
                <a:cs typeface="Calibri"/>
              </a:rPr>
              <a:t> </a:t>
            </a:r>
            <a:r>
              <a:rPr dirty="0" sz="3400" spc="-25">
                <a:latin typeface="Calibri"/>
                <a:cs typeface="Calibri"/>
              </a:rPr>
              <a:t>top </a:t>
            </a:r>
            <a:r>
              <a:rPr dirty="0" sz="3400">
                <a:latin typeface="Calibri"/>
                <a:cs typeface="Calibri"/>
              </a:rPr>
              <a:t>industries</a:t>
            </a:r>
            <a:r>
              <a:rPr dirty="0" sz="3400" spc="-25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and</a:t>
            </a:r>
            <a:r>
              <a:rPr dirty="0" sz="3400" spc="-20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companies,</a:t>
            </a:r>
            <a:r>
              <a:rPr dirty="0" sz="3400" spc="-25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analyze</a:t>
            </a:r>
            <a:r>
              <a:rPr dirty="0" sz="3400" spc="-20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job</a:t>
            </a:r>
            <a:r>
              <a:rPr dirty="0" sz="3400" spc="-20">
                <a:latin typeface="Calibri"/>
                <a:cs typeface="Calibri"/>
              </a:rPr>
              <a:t> </a:t>
            </a:r>
            <a:r>
              <a:rPr dirty="0" sz="3400" spc="-10">
                <a:latin typeface="Calibri"/>
                <a:cs typeface="Calibri"/>
              </a:rPr>
              <a:t>titles </a:t>
            </a:r>
            <a:r>
              <a:rPr dirty="0" sz="3400">
                <a:latin typeface="Calibri"/>
                <a:cs typeface="Calibri"/>
              </a:rPr>
              <a:t>and</a:t>
            </a:r>
            <a:r>
              <a:rPr dirty="0" sz="3400" spc="-10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skills,</a:t>
            </a:r>
            <a:r>
              <a:rPr dirty="0" sz="3400" spc="-5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and</a:t>
            </a:r>
            <a:r>
              <a:rPr dirty="0" sz="3400" spc="-5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build</a:t>
            </a:r>
            <a:r>
              <a:rPr dirty="0" sz="3400" spc="-5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a</a:t>
            </a:r>
            <a:r>
              <a:rPr dirty="0" sz="3400" spc="-10">
                <a:latin typeface="Calibri"/>
                <a:cs typeface="Calibri"/>
              </a:rPr>
              <a:t> dashboard.</a:t>
            </a:r>
            <a:endParaRPr sz="3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337310">
              <a:lnSpc>
                <a:spcPct val="100000"/>
              </a:lnSpc>
              <a:spcBef>
                <a:spcPts val="90"/>
              </a:spcBef>
            </a:pPr>
            <a:r>
              <a:rPr dirty="0"/>
              <a:t>Dataset</a:t>
            </a:r>
            <a:r>
              <a:rPr dirty="0" spc="-185"/>
              <a:t> </a:t>
            </a:r>
            <a:r>
              <a:rPr dirty="0" spc="-10"/>
              <a:t>Description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1044" y="1943100"/>
            <a:ext cx="104775" cy="10477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05611" y="1658842"/>
            <a:ext cx="7870825" cy="1060450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12700" marR="5080">
              <a:lnSpc>
                <a:spcPts val="4050"/>
              </a:lnSpc>
              <a:spcBef>
                <a:spcPts val="245"/>
              </a:spcBef>
            </a:pPr>
            <a:r>
              <a:rPr dirty="0" sz="3400">
                <a:latin typeface="Calibri"/>
                <a:cs typeface="Calibri"/>
              </a:rPr>
              <a:t>Dataset</a:t>
            </a:r>
            <a:r>
              <a:rPr dirty="0" sz="3400" spc="-25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contains</a:t>
            </a:r>
            <a:r>
              <a:rPr dirty="0" sz="3400" spc="-20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Job</a:t>
            </a:r>
            <a:r>
              <a:rPr dirty="0" sz="3400" spc="-20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Title,</a:t>
            </a:r>
            <a:r>
              <a:rPr dirty="0" sz="3400" spc="-25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Company</a:t>
            </a:r>
            <a:r>
              <a:rPr dirty="0" sz="3400" spc="-20">
                <a:latin typeface="Calibri"/>
                <a:cs typeface="Calibri"/>
              </a:rPr>
              <a:t> </a:t>
            </a:r>
            <a:r>
              <a:rPr dirty="0" sz="3400" spc="-10">
                <a:latin typeface="Calibri"/>
                <a:cs typeface="Calibri"/>
              </a:rPr>
              <a:t>Name, </a:t>
            </a:r>
            <a:r>
              <a:rPr dirty="0" sz="3400">
                <a:latin typeface="Calibri"/>
                <a:cs typeface="Calibri"/>
              </a:rPr>
              <a:t>Industry,</a:t>
            </a:r>
            <a:r>
              <a:rPr dirty="0" sz="3400" spc="-30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Location,</a:t>
            </a:r>
            <a:r>
              <a:rPr dirty="0" sz="3400" spc="-30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Degree,</a:t>
            </a:r>
            <a:r>
              <a:rPr dirty="0" sz="3400" spc="-30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Salary,</a:t>
            </a:r>
            <a:r>
              <a:rPr dirty="0" sz="3400" spc="-25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and</a:t>
            </a:r>
            <a:r>
              <a:rPr dirty="0" sz="3400" spc="-30">
                <a:latin typeface="Calibri"/>
                <a:cs typeface="Calibri"/>
              </a:rPr>
              <a:t> </a:t>
            </a:r>
            <a:r>
              <a:rPr dirty="0" sz="3400" spc="-10">
                <a:latin typeface="Calibri"/>
                <a:cs typeface="Calibri"/>
              </a:rPr>
              <a:t>Skills.</a:t>
            </a:r>
            <a:endParaRPr sz="3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Data</a:t>
            </a:r>
            <a:r>
              <a:rPr dirty="0" spc="-95"/>
              <a:t> </a:t>
            </a:r>
            <a:r>
              <a:rPr dirty="0"/>
              <a:t>Cleaning</a:t>
            </a:r>
            <a:r>
              <a:rPr dirty="0" spc="-90"/>
              <a:t> </a:t>
            </a:r>
            <a:r>
              <a:rPr dirty="0"/>
              <a:t>&amp;</a:t>
            </a:r>
            <a:r>
              <a:rPr dirty="0" spc="-90"/>
              <a:t> </a:t>
            </a:r>
            <a:r>
              <a:rPr dirty="0" spc="-10"/>
              <a:t>Preprocessing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3130" y="3230439"/>
            <a:ext cx="6029324" cy="32003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1044" y="1943100"/>
            <a:ext cx="104775" cy="10477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05462" y="1658842"/>
            <a:ext cx="7966709" cy="1060450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12700" marR="5080">
              <a:lnSpc>
                <a:spcPts val="4050"/>
              </a:lnSpc>
              <a:spcBef>
                <a:spcPts val="245"/>
              </a:spcBef>
            </a:pPr>
            <a:r>
              <a:rPr dirty="0" sz="3400">
                <a:latin typeface="Calibri"/>
                <a:cs typeface="Calibri"/>
              </a:rPr>
              <a:t>Removed</a:t>
            </a:r>
            <a:r>
              <a:rPr dirty="0" sz="3400" spc="-30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duplicates,</a:t>
            </a:r>
            <a:r>
              <a:rPr dirty="0" sz="3400" spc="-25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handled</a:t>
            </a:r>
            <a:r>
              <a:rPr dirty="0" sz="3400" spc="-25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missing</a:t>
            </a:r>
            <a:r>
              <a:rPr dirty="0" sz="3400" spc="-25">
                <a:latin typeface="Calibri"/>
                <a:cs typeface="Calibri"/>
              </a:rPr>
              <a:t> </a:t>
            </a:r>
            <a:r>
              <a:rPr dirty="0" sz="3400" spc="-10">
                <a:latin typeface="Calibri"/>
                <a:cs typeface="Calibri"/>
              </a:rPr>
              <a:t>values, </a:t>
            </a:r>
            <a:r>
              <a:rPr dirty="0" sz="3400">
                <a:latin typeface="Calibri"/>
                <a:cs typeface="Calibri"/>
              </a:rPr>
              <a:t>corrected</a:t>
            </a:r>
            <a:r>
              <a:rPr dirty="0" sz="3400" spc="-35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data</a:t>
            </a:r>
            <a:r>
              <a:rPr dirty="0" sz="3400" spc="-25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types,</a:t>
            </a:r>
            <a:r>
              <a:rPr dirty="0" sz="3400" spc="-25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and</a:t>
            </a:r>
            <a:r>
              <a:rPr dirty="0" sz="3400" spc="-25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prepared</a:t>
            </a:r>
            <a:r>
              <a:rPr dirty="0" sz="3400" spc="-25">
                <a:latin typeface="Calibri"/>
                <a:cs typeface="Calibri"/>
              </a:rPr>
              <a:t> </a:t>
            </a:r>
            <a:r>
              <a:rPr dirty="0" sz="3400" spc="-10">
                <a:latin typeface="Calibri"/>
                <a:cs typeface="Calibri"/>
              </a:rPr>
              <a:t>data.</a:t>
            </a:r>
            <a:endParaRPr sz="3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781050">
              <a:lnSpc>
                <a:spcPct val="100000"/>
              </a:lnSpc>
              <a:spcBef>
                <a:spcPts val="90"/>
              </a:spcBef>
            </a:pPr>
            <a:r>
              <a:rPr dirty="0"/>
              <a:t>States</a:t>
            </a:r>
            <a:r>
              <a:rPr dirty="0" spc="-110"/>
              <a:t> </a:t>
            </a:r>
            <a:r>
              <a:rPr dirty="0"/>
              <a:t>with</a:t>
            </a:r>
            <a:r>
              <a:rPr dirty="0" spc="-105"/>
              <a:t> </a:t>
            </a:r>
            <a:r>
              <a:rPr dirty="0"/>
              <a:t>Most</a:t>
            </a:r>
            <a:r>
              <a:rPr dirty="0" spc="-110"/>
              <a:t> </a:t>
            </a:r>
            <a:r>
              <a:rPr dirty="0" spc="-20"/>
              <a:t>Jobs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3130" y="2056588"/>
            <a:ext cx="6029324" cy="32003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591185">
              <a:lnSpc>
                <a:spcPct val="100000"/>
              </a:lnSpc>
              <a:spcBef>
                <a:spcPts val="90"/>
              </a:spcBef>
            </a:pPr>
            <a:r>
              <a:rPr dirty="0"/>
              <a:t>Salary</a:t>
            </a:r>
            <a:r>
              <a:rPr dirty="0" spc="-125"/>
              <a:t> </a:t>
            </a:r>
            <a:r>
              <a:rPr dirty="0"/>
              <a:t>Analysis</a:t>
            </a:r>
            <a:r>
              <a:rPr dirty="0" spc="-120"/>
              <a:t> </a:t>
            </a:r>
            <a:r>
              <a:rPr dirty="0"/>
              <a:t>by</a:t>
            </a:r>
            <a:r>
              <a:rPr dirty="0" spc="-120"/>
              <a:t> </a:t>
            </a:r>
            <a:r>
              <a:rPr dirty="0" spc="-10"/>
              <a:t>State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3130" y="2056588"/>
            <a:ext cx="6029324" cy="32003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Top</a:t>
            </a:r>
            <a:r>
              <a:rPr dirty="0" spc="-110"/>
              <a:t> </a:t>
            </a:r>
            <a:r>
              <a:rPr dirty="0"/>
              <a:t>Industries</a:t>
            </a:r>
            <a:r>
              <a:rPr dirty="0" spc="-105"/>
              <a:t> </a:t>
            </a:r>
            <a:r>
              <a:rPr dirty="0"/>
              <a:t>&amp;</a:t>
            </a:r>
            <a:r>
              <a:rPr dirty="0" spc="-110"/>
              <a:t> </a:t>
            </a:r>
            <a:r>
              <a:rPr dirty="0" spc="-10"/>
              <a:t>Companies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3130" y="2056588"/>
            <a:ext cx="6029324" cy="32003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319405">
              <a:lnSpc>
                <a:spcPct val="100000"/>
              </a:lnSpc>
              <a:spcBef>
                <a:spcPts val="90"/>
              </a:spcBef>
            </a:pPr>
            <a:r>
              <a:rPr dirty="0"/>
              <a:t>Job</a:t>
            </a:r>
            <a:r>
              <a:rPr dirty="0" spc="-75"/>
              <a:t> </a:t>
            </a:r>
            <a:r>
              <a:rPr dirty="0"/>
              <a:t>Titles</a:t>
            </a:r>
            <a:r>
              <a:rPr dirty="0" spc="-70"/>
              <a:t> </a:t>
            </a:r>
            <a:r>
              <a:rPr dirty="0"/>
              <a:t>&amp;</a:t>
            </a:r>
            <a:r>
              <a:rPr dirty="0" spc="-70"/>
              <a:t> </a:t>
            </a:r>
            <a:r>
              <a:rPr dirty="0"/>
              <a:t>Skills</a:t>
            </a:r>
            <a:r>
              <a:rPr dirty="0" spc="-75"/>
              <a:t> </a:t>
            </a:r>
            <a:r>
              <a:rPr dirty="0" spc="-10"/>
              <a:t>Analysis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3130" y="2056588"/>
            <a:ext cx="6029324" cy="32003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093470">
              <a:lnSpc>
                <a:spcPct val="100000"/>
              </a:lnSpc>
              <a:spcBef>
                <a:spcPts val="90"/>
              </a:spcBef>
            </a:pPr>
            <a:r>
              <a:rPr dirty="0"/>
              <a:t>Education</a:t>
            </a:r>
            <a:r>
              <a:rPr dirty="0" spc="-140"/>
              <a:t> </a:t>
            </a:r>
            <a:r>
              <a:rPr dirty="0"/>
              <a:t>vs</a:t>
            </a:r>
            <a:r>
              <a:rPr dirty="0" spc="-135"/>
              <a:t> </a:t>
            </a:r>
            <a:r>
              <a:rPr dirty="0" spc="-10"/>
              <a:t>Salary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3130" y="2056588"/>
            <a:ext cx="6029324" cy="32003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886460">
              <a:lnSpc>
                <a:spcPct val="100000"/>
              </a:lnSpc>
              <a:spcBef>
                <a:spcPts val="90"/>
              </a:spcBef>
            </a:pPr>
            <a:r>
              <a:rPr dirty="0"/>
              <a:t>Dashboard</a:t>
            </a:r>
            <a:r>
              <a:rPr dirty="0" spc="-254"/>
              <a:t> </a:t>
            </a:r>
            <a:r>
              <a:rPr dirty="0" spc="-10"/>
              <a:t>Overview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3130" y="2056588"/>
            <a:ext cx="6029324" cy="32003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2287270">
              <a:lnSpc>
                <a:spcPct val="100000"/>
              </a:lnSpc>
              <a:spcBef>
                <a:spcPts val="90"/>
              </a:spcBef>
            </a:pPr>
            <a:r>
              <a:rPr dirty="0"/>
              <a:t>Key</a:t>
            </a:r>
            <a:r>
              <a:rPr dirty="0" spc="-60"/>
              <a:t> </a:t>
            </a:r>
            <a:r>
              <a:rPr dirty="0" spc="-10"/>
              <a:t>Insights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1044" y="1943100"/>
            <a:ext cx="104775" cy="10477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05611" y="1658842"/>
            <a:ext cx="8107045" cy="1574800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12700" marR="5080">
              <a:lnSpc>
                <a:spcPts val="4050"/>
              </a:lnSpc>
              <a:spcBef>
                <a:spcPts val="245"/>
              </a:spcBef>
            </a:pPr>
            <a:r>
              <a:rPr dirty="0" sz="3400" spc="-10">
                <a:latin typeface="Calibri"/>
                <a:cs typeface="Calibri"/>
              </a:rPr>
              <a:t>High-</a:t>
            </a:r>
            <a:r>
              <a:rPr dirty="0" sz="3400">
                <a:latin typeface="Calibri"/>
                <a:cs typeface="Calibri"/>
              </a:rPr>
              <a:t>demand</a:t>
            </a:r>
            <a:r>
              <a:rPr dirty="0" sz="3400" spc="-20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states</a:t>
            </a:r>
            <a:r>
              <a:rPr dirty="0" sz="3400" spc="-15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dominate</a:t>
            </a:r>
            <a:r>
              <a:rPr dirty="0" sz="3400" spc="-15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hiring.</a:t>
            </a:r>
            <a:r>
              <a:rPr dirty="0" sz="3400" spc="-15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SQL</a:t>
            </a:r>
            <a:r>
              <a:rPr dirty="0" sz="3400" spc="-15">
                <a:latin typeface="Calibri"/>
                <a:cs typeface="Calibri"/>
              </a:rPr>
              <a:t> </a:t>
            </a:r>
            <a:r>
              <a:rPr dirty="0" sz="3400" spc="-25">
                <a:latin typeface="Calibri"/>
                <a:cs typeface="Calibri"/>
              </a:rPr>
              <a:t>and </a:t>
            </a:r>
            <a:r>
              <a:rPr dirty="0" sz="3400">
                <a:latin typeface="Calibri"/>
                <a:cs typeface="Calibri"/>
              </a:rPr>
              <a:t>Python</a:t>
            </a:r>
            <a:r>
              <a:rPr dirty="0" sz="3400" spc="-20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are</a:t>
            </a:r>
            <a:r>
              <a:rPr dirty="0" sz="3400" spc="-20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key</a:t>
            </a:r>
            <a:r>
              <a:rPr dirty="0" sz="3400" spc="-15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skills.</a:t>
            </a:r>
            <a:r>
              <a:rPr dirty="0" sz="3400" spc="-20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Higher</a:t>
            </a:r>
            <a:r>
              <a:rPr dirty="0" sz="3400" spc="-20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education</a:t>
            </a:r>
            <a:r>
              <a:rPr dirty="0" sz="3400" spc="-15">
                <a:latin typeface="Calibri"/>
                <a:cs typeface="Calibri"/>
              </a:rPr>
              <a:t> </a:t>
            </a:r>
            <a:r>
              <a:rPr dirty="0" sz="3400" spc="-10">
                <a:latin typeface="Calibri"/>
                <a:cs typeface="Calibri"/>
              </a:rPr>
              <a:t>often </a:t>
            </a:r>
            <a:r>
              <a:rPr dirty="0" sz="3400">
                <a:latin typeface="Calibri"/>
                <a:cs typeface="Calibri"/>
              </a:rPr>
              <a:t>leads</a:t>
            </a:r>
            <a:r>
              <a:rPr dirty="0" sz="3400" spc="-15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to</a:t>
            </a:r>
            <a:r>
              <a:rPr dirty="0" sz="3400" spc="-10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higher</a:t>
            </a:r>
            <a:r>
              <a:rPr dirty="0" sz="3400" spc="-10">
                <a:latin typeface="Calibri"/>
                <a:cs typeface="Calibri"/>
              </a:rPr>
              <a:t> salaries.</a:t>
            </a:r>
            <a:endParaRPr sz="3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450975">
              <a:lnSpc>
                <a:spcPct val="100000"/>
              </a:lnSpc>
              <a:spcBef>
                <a:spcPts val="90"/>
              </a:spcBef>
            </a:pPr>
            <a:r>
              <a:rPr dirty="0" spc="-10"/>
              <a:t>Recommendations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1044" y="1943100"/>
            <a:ext cx="104775" cy="10477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05611" y="1658842"/>
            <a:ext cx="7298690" cy="1574800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12700" marR="5080">
              <a:lnSpc>
                <a:spcPts val="4050"/>
              </a:lnSpc>
              <a:spcBef>
                <a:spcPts val="245"/>
              </a:spcBef>
            </a:pPr>
            <a:r>
              <a:rPr dirty="0" sz="3400">
                <a:latin typeface="Calibri"/>
                <a:cs typeface="Calibri"/>
              </a:rPr>
              <a:t>Focus</a:t>
            </a:r>
            <a:r>
              <a:rPr dirty="0" sz="3400" spc="-10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on</a:t>
            </a:r>
            <a:r>
              <a:rPr dirty="0" sz="3400" spc="-10">
                <a:latin typeface="Calibri"/>
                <a:cs typeface="Calibri"/>
              </a:rPr>
              <a:t> in-</a:t>
            </a:r>
            <a:r>
              <a:rPr dirty="0" sz="3400">
                <a:latin typeface="Calibri"/>
                <a:cs typeface="Calibri"/>
              </a:rPr>
              <a:t>demand</a:t>
            </a:r>
            <a:r>
              <a:rPr dirty="0" sz="3400" spc="-10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skills,</a:t>
            </a:r>
            <a:r>
              <a:rPr dirty="0" sz="3400" spc="-5">
                <a:latin typeface="Calibri"/>
                <a:cs typeface="Calibri"/>
              </a:rPr>
              <a:t> </a:t>
            </a:r>
            <a:r>
              <a:rPr dirty="0" sz="3400" spc="-10">
                <a:latin typeface="Calibri"/>
                <a:cs typeface="Calibri"/>
              </a:rPr>
              <a:t>training, </a:t>
            </a:r>
            <a:r>
              <a:rPr dirty="0" sz="3400">
                <a:latin typeface="Calibri"/>
                <a:cs typeface="Calibri"/>
              </a:rPr>
              <a:t>competitive</a:t>
            </a:r>
            <a:r>
              <a:rPr dirty="0" sz="3400" spc="-5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salaries, and </a:t>
            </a:r>
            <a:r>
              <a:rPr dirty="0" sz="3400" spc="-10">
                <a:latin typeface="Calibri"/>
                <a:cs typeface="Calibri"/>
              </a:rPr>
              <a:t>analytics-driven hiring.</a:t>
            </a:r>
            <a:endParaRPr sz="3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2400300">
              <a:lnSpc>
                <a:spcPct val="100000"/>
              </a:lnSpc>
              <a:spcBef>
                <a:spcPts val="90"/>
              </a:spcBef>
            </a:pPr>
            <a:r>
              <a:rPr dirty="0" spc="-10"/>
              <a:t>Conclusion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1044" y="1943100"/>
            <a:ext cx="104775" cy="10477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05611" y="1658842"/>
            <a:ext cx="7826375" cy="1060450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12700" marR="5080">
              <a:lnSpc>
                <a:spcPts val="4050"/>
              </a:lnSpc>
              <a:spcBef>
                <a:spcPts val="245"/>
              </a:spcBef>
            </a:pPr>
            <a:r>
              <a:rPr dirty="0" sz="3400">
                <a:latin typeface="Calibri"/>
                <a:cs typeface="Calibri"/>
              </a:rPr>
              <a:t>The</a:t>
            </a:r>
            <a:r>
              <a:rPr dirty="0" sz="3400" spc="-25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project</a:t>
            </a:r>
            <a:r>
              <a:rPr dirty="0" sz="3400" spc="-25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provides</a:t>
            </a:r>
            <a:r>
              <a:rPr dirty="0" sz="3400" spc="-20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actionable</a:t>
            </a:r>
            <a:r>
              <a:rPr dirty="0" sz="3400" spc="-25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insights</a:t>
            </a:r>
            <a:r>
              <a:rPr dirty="0" sz="3400" spc="-25">
                <a:latin typeface="Calibri"/>
                <a:cs typeface="Calibri"/>
              </a:rPr>
              <a:t> </a:t>
            </a:r>
            <a:r>
              <a:rPr dirty="0" sz="3400" spc="-20">
                <a:latin typeface="Calibri"/>
                <a:cs typeface="Calibri"/>
              </a:rPr>
              <a:t>into </a:t>
            </a:r>
            <a:r>
              <a:rPr dirty="0" sz="3400">
                <a:latin typeface="Calibri"/>
                <a:cs typeface="Calibri"/>
              </a:rPr>
              <a:t>job</a:t>
            </a:r>
            <a:r>
              <a:rPr dirty="0" sz="3400" spc="-20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market</a:t>
            </a:r>
            <a:r>
              <a:rPr dirty="0" sz="3400" spc="-20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trends</a:t>
            </a:r>
            <a:r>
              <a:rPr dirty="0" sz="3400" spc="-20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using</a:t>
            </a:r>
            <a:r>
              <a:rPr dirty="0" sz="3400" spc="-15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Power</a:t>
            </a:r>
            <a:r>
              <a:rPr dirty="0" sz="3400" spc="-20">
                <a:latin typeface="Calibri"/>
                <a:cs typeface="Calibri"/>
              </a:rPr>
              <a:t> </a:t>
            </a:r>
            <a:r>
              <a:rPr dirty="0" sz="3400" spc="-25">
                <a:latin typeface="Calibri"/>
                <a:cs typeface="Calibri"/>
              </a:rPr>
              <a:t>BI.</a:t>
            </a:r>
            <a:endParaRPr sz="3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2459355">
              <a:lnSpc>
                <a:spcPct val="100000"/>
              </a:lnSpc>
              <a:spcBef>
                <a:spcPts val="90"/>
              </a:spcBef>
            </a:pPr>
            <a:r>
              <a:rPr dirty="0"/>
              <a:t>Thank</a:t>
            </a:r>
            <a:r>
              <a:rPr dirty="0" spc="-145"/>
              <a:t> </a:t>
            </a:r>
            <a:r>
              <a:rPr dirty="0" spc="-25"/>
              <a:t>You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1044" y="1943100"/>
            <a:ext cx="104775" cy="10477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05611" y="1658842"/>
            <a:ext cx="3785870" cy="5461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400">
                <a:latin typeface="Calibri"/>
                <a:cs typeface="Calibri"/>
              </a:rPr>
              <a:t>Questions</a:t>
            </a:r>
            <a:r>
              <a:rPr dirty="0" sz="3400" spc="-20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&amp;</a:t>
            </a:r>
            <a:r>
              <a:rPr dirty="0" sz="3400" spc="-15">
                <a:latin typeface="Calibri"/>
                <a:cs typeface="Calibri"/>
              </a:rPr>
              <a:t> </a:t>
            </a:r>
            <a:r>
              <a:rPr dirty="0" sz="3400" spc="-10">
                <a:latin typeface="Calibri"/>
                <a:cs typeface="Calibri"/>
              </a:rPr>
              <a:t>Answers</a:t>
            </a:r>
            <a:endParaRPr sz="3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Venkata Sai</dc:creator>
  <cp:keywords>DAHMQQbwr9A,BAFPXR7u1Z4,0</cp:keywords>
  <dc:title>Job_Market_Analysis_Presentation.pptx</dc:title>
  <dcterms:created xsi:type="dcterms:W3CDTF">2026-06-11T11:35:17Z</dcterms:created>
  <dcterms:modified xsi:type="dcterms:W3CDTF">2026-06-11T11:35:17Z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v10.0.19910.1</vt:lpwstr>
  </property>
  <property fmtid="{D5CDD505-2E9C-101B-9397-08002B2CF9AE}" pid="3" name="Created">
    <vt:filetime>2026-06-11T00:00:00Z</vt:filetime>
  </property>
  <property fmtid="{D5CDD505-2E9C-101B-9397-08002B2CF9AE}" pid="4" name="Creator">
    <vt:lpwstr>Canva</vt:lpwstr>
  </property>
  <property fmtid="{D5CDD505-2E9C-101B-9397-08002B2CF9AE}" pid="5" name="LastSaved">
    <vt:filetime>2026-06-11T00:00:00Z</vt:filetime>
  </property>
  <property fmtid="{D5CDD505-2E9C-101B-9397-08002B2CF9AE}" pid="6" name="Producer">
    <vt:lpwstr>Canva</vt:lpwstr>
  </property>
</Properties>
</file>